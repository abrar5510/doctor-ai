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Doctor-AI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AI-Powered Clinical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0A3E0"/>
                </a:solidFill>
              </a:defRPr>
            </a:pPr>
            <a:r>
              <a:t>Transforming Healthcare with Advanced AI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2BC"/>
                </a:solidFill>
              </a:defRPr>
            </a:pPr>
            <a:r>
              <a:t>What is Doctor-AI?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4CAF50"/>
                </a:solidFill>
              </a:defRPr>
            </a:pPr>
            <a:r>
              <a:t>The Challenge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</a:defRPr>
            </a:pPr>
            <a:r>
              <a:t>Healthcare professionals face complex diagnostic decisions with limited time and vast medical knowledge to process.</a:t>
            </a:r>
          </a:p>
          <a:p>
            <a:pPr>
              <a:spcAft>
                <a:spcPts val="1000"/>
              </a:spcAft>
              <a:defRPr sz="2800" b="1">
                <a:solidFill>
                  <a:srgbClr val="4CAF50"/>
                </a:solidFill>
              </a:defRPr>
            </a:pPr>
            <a:r>
              <a:t>The Solution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Analyzes patient symptoms using advanced AI and semantic search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Provides differential diagnoses ranked by confidence levels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Detects rare diseases through comprehensive medical ontologies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Flags life-threatening symptoms requiring immediate attention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Offers explainable AI reasoning for all diagnostic suggestions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2BC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4023360" cy="2377440"/>
          </a:xfrm>
          <a:prstGeom prst="rect">
            <a:avLst/>
          </a:prstGeom>
          <a:solidFill>
            <a:srgbClr val="F5F8FA"/>
          </a:solidFill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72BC"/>
                </a:solidFill>
              </a:defRPr>
            </a:pPr>
            <a:r>
              <a:t>🔬 Advanced AI Engine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BioBERT/PubMedBERT embeddings (768-dim)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Vector similarity search via Qdrant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Query latency &lt;2 seconds (p95)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280160"/>
            <a:ext cx="4023360" cy="2377440"/>
          </a:xfrm>
          <a:prstGeom prst="rect">
            <a:avLst/>
          </a:prstGeom>
          <a:solidFill>
            <a:srgbClr val="F5F8FA"/>
          </a:solidFill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72BC"/>
                </a:solidFill>
              </a:defRPr>
            </a:pPr>
            <a:r>
              <a:t>🏥 Medical Intelligence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HPO: 15,247 phenotype terms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ICD-10-CM: 70,000+ diagnostic codes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Rare disease detection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31920"/>
            <a:ext cx="4023360" cy="2377440"/>
          </a:xfrm>
          <a:prstGeom prst="rect">
            <a:avLst/>
          </a:prstGeom>
          <a:solidFill>
            <a:srgbClr val="F5F8FA"/>
          </a:solidFill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72BC"/>
                </a:solidFill>
              </a:defRPr>
            </a:pPr>
            <a:r>
              <a:t>⚡ Smart Triage System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4-tier confidence-based routing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Red flag alert detection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Specialist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931920"/>
            <a:ext cx="4023360" cy="2377440"/>
          </a:xfrm>
          <a:prstGeom prst="rect">
            <a:avLst/>
          </a:prstGeom>
          <a:solidFill>
            <a:srgbClr val="F5F8FA"/>
          </a:solidFill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72BC"/>
                </a:solidFill>
              </a:defRPr>
            </a:pPr>
            <a:r>
              <a:t>🔒 Security &amp; Compliance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HIPAA-compliant audit logging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Data encryption at rest/transit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Complete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2BC"/>
                </a:solidFill>
              </a:defRPr>
            </a:pPr>
            <a:r>
              <a:t>Technology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solidFill>
            <a:srgbClr val="F0F7FF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wrap="square"/>
          <a:lstStyle/>
          <a:p>
            <a:pPr algn="ctr">
              <a:spcAft>
                <a:spcPts val="1000"/>
              </a:spcAft>
              <a:defRPr sz="2400" b="1">
                <a:solidFill>
                  <a:srgbClr val="0072BC"/>
                </a:solidFill>
              </a:defRPr>
            </a:pPr>
            <a:r>
              <a:t>Backend &amp; AI/ML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Python 3.9+ &amp; FastAPI  •  BioBERT, PubMedBERT, Transformers  •  Qdrant Vector Database  •  LLM Integration (GPT-4/Llama2)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834640"/>
            <a:ext cx="7680960" cy="1463040"/>
          </a:xfrm>
          <a:prstGeom prst="rect">
            <a:avLst/>
          </a:prstGeom>
          <a:solidFill>
            <a:srgbClr val="F0F7FF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wrap="square"/>
          <a:lstStyle/>
          <a:p>
            <a:pPr algn="ctr">
              <a:spcAft>
                <a:spcPts val="1000"/>
              </a:spcAft>
              <a:defRPr sz="2400" b="1">
                <a:solidFill>
                  <a:srgbClr val="0072BC"/>
                </a:solidFill>
              </a:defRPr>
            </a:pPr>
            <a:r>
              <a:t>Frontend &amp; Data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React 18 with Vite  •  Responsive modern UI  •  PostgreSQL database  •  Redis caching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480560"/>
            <a:ext cx="7680960" cy="1463040"/>
          </a:xfrm>
          <a:prstGeom prst="rect">
            <a:avLst/>
          </a:prstGeom>
          <a:solidFill>
            <a:srgbClr val="F0F7FF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wrap="square"/>
          <a:lstStyle/>
          <a:p>
            <a:pPr algn="ctr">
              <a:spcAft>
                <a:spcPts val="1000"/>
              </a:spcAft>
              <a:defRPr sz="2400" b="1">
                <a:solidFill>
                  <a:srgbClr val="0072BC"/>
                </a:solidFill>
              </a:defRPr>
            </a:pPr>
            <a:r>
              <a:t>Deployment &amp; DevOps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Docker &amp; Docker Compose  •  Render.com cloud ready  •  100+ queries/second throughput  •  Scalable microservices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2BC"/>
                </a:solidFill>
              </a:defRPr>
            </a:pPr>
            <a:r>
              <a:t>Impact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920240" cy="1280160"/>
          </a:xfrm>
          <a:prstGeom prst="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&lt;2s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Diagnostic Query Latency (p95)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280160"/>
            <a:ext cx="1920240" cy="1280160"/>
          </a:xfrm>
          <a:prstGeom prst="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Queries Per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280160"/>
            <a:ext cx="1920240" cy="1280160"/>
          </a:xfrm>
          <a:prstGeom prst="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15K+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Phenotype Terms (HPO)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280160"/>
            <a:ext cx="1920240" cy="1280160"/>
          </a:xfrm>
          <a:prstGeom prst="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70K+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ICD-10-CM Diagnostic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0072BC"/>
                </a:solidFill>
              </a:defRPr>
            </a:pPr>
            <a:r>
              <a:t>Key Impacts on Healthcare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Assists healthcare professionals with rapid, evidence-based diagnostic support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Identifies rare diseases that might be missed in traditional workflows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Reduces diagnostic uncertainty through AI-powered differential diagnosis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Improves patient safety with automated red flag detection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Provides explainable AI reasoning for transparency and trust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Enhances clinical decision-making while maintaining human oversight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</a:defRPr>
            </a:pPr>
            <a:r>
              <a:t>⚕️ Clinical Decision Support Tool - Designed to Assist, Not Replace Healthcare Professionals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